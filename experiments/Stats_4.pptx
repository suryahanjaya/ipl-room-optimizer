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77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6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DC75-2D58-8305-EBFC-205C94EB0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1FE84-D848-5284-7335-90830BA5F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D7BE4-0ED9-5D85-CA3E-BF58989E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1A20E-F777-85FE-13C2-8F6332F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C3C5-CD61-7EF8-A0F3-D2974A90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3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230E-3196-D2E9-8749-5212D3D5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53E8-3C2D-BFEC-DD23-756E21E60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58433-23C8-A410-F985-E67AB3AC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DAA3D-7A0B-9B03-42C2-7448C87F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0D12A-D9F8-E70B-D8DF-24D2570C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2C99-D2DE-F1DD-86F9-50282C74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C7825-9777-A788-27B9-3DAD9D8D7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A6F3D-D311-60F1-8170-514453FA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7DE70-32F2-F3EF-3133-F1ABAB64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0E9FB-1A03-576B-B949-B6268B29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1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252F-96D3-55F6-BB7D-6D66E22C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D9EF9-69DA-0BD1-E920-93301EBF1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F239E-AD28-F86F-1528-3737F96B4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4FBA3-6043-698F-9265-3D2610C9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91DB-AABA-F87D-89A5-09869418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F1A5-811B-6B8F-DF90-867541A8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4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DD51-A6FF-8E8C-1CAA-A3F25B8F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6C13A-94F1-096E-5490-8B58AE8E1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F2BC3-B909-90A4-A431-989CE887B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3C5C6-7315-CE3A-1DC1-374B51ED0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97400-77D4-A799-86F1-52136B21E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1FB8F-2A0C-D7B3-2D5E-F304E7A8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749B5-5B71-FF1D-E7CE-4F482A28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A8C127-1C56-4C95-B421-6F160007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3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4D4A-C2F2-0E6C-82DA-15CB3849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CFCD9-BC99-CB59-8EE4-08DDD5BC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16058-6A02-F79E-F2D4-8674AC7E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36443-1D9D-D297-856B-68C9F329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5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E6AE9-B249-BF57-CD5F-311EA9AA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DA4FD-BA5C-0B14-6764-42839D0A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6A981-9722-B06D-9C3A-577090F61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2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630B-7D51-9788-C7C2-7DBEEA575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8B8A-2276-9DE8-221E-BC653B501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676D0-C161-4CAA-19E7-2600F4B6C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D453-8E9D-922E-6BF3-2C349617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6FF70-758D-B026-BD2E-7231C96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86FFE-E2AF-AC09-51F7-EC33782D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2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EB06-B42C-6861-4DF5-889E71F9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D306F-979C-CA1D-5B17-59ADBB2BF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B7722-08BE-69C2-5926-311E6097B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59FEB-77F2-E09B-8783-C012B0B1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1BAA3-7D5B-46A1-E1BA-839E2EC9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F0F0F-DE1B-E0EC-F814-A60D0F15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7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E37E-3997-62E9-1401-03A8EBC1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89C8B-2C6B-3B01-1912-EA46B1C24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9F10B-62C1-D02A-7423-0798493C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35E97-BCB2-EEE8-4920-70B197EB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7B3B-7AC6-7412-2169-52F35E62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2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966D5-4FC0-A6C8-C4DD-DD5B40AED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70D3C-7028-5C0A-6DFC-AADC73E20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6AD4A-23E4-D663-F3FF-1B3BF0B5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1637-54F3-154B-9DA7-84CC9E6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7050E-3271-ADC0-4E3E-D9778747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5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D51D6-2807-8FC8-F743-7DDCFA73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91C2E-7D2D-AEF6-7117-8FBCAFE53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1F1C8-1222-6F84-3E86-CF457E748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152B5-0C45-864A-8841-B2B34E3CBBC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8935-2438-3AD9-9CCF-BCDD483DE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83A3-E819-847F-6D1E-4D9DC9310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5A813-FFB5-5D4B-BAEC-4D36B9DE9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0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F578-9053-623A-90D9-A3FD03EFE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hoá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phối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cử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ĐHBK TP.HCM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5FA4B-FB24-528C-7565-CBE89E4CB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8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B3B6-669E-8503-0215-E49A1ACA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trạng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(HK 251)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7D41-C126-881D-997D-2E1C43F7D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3392 ca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(15/12/2025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10/01/2026)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Tình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gác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3392 * 2 * 1.05 = 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7123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7123 * 2 = 14246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594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1.62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Lãng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phí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hết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8C30-9C42-CEDC-62B7-9A8C5B6A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tưởng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CBAC-E9E6-6FBB-A53D-C2F348191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Gộp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40%)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2: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13%)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3: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quyền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42%)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4: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quyền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từng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kiệm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62%)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0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B44A-5A81-46E3-F0FD-FCF3A48C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CED8B-6C35-078E-8FD5-F02815B6F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endParaRPr lang="en-US" dirty="0"/>
          </a:p>
          <a:p>
            <a:r>
              <a:rPr lang="en-US" dirty="0"/>
              <a:t>B: A + B5-HT(130, CS 1) + H6-GD(250, CS 2)</a:t>
            </a:r>
          </a:p>
          <a:p>
            <a:r>
              <a:rPr lang="en-US" dirty="0"/>
              <a:t>C: B + NTD(300, CS 2)</a:t>
            </a:r>
          </a:p>
          <a:p>
            <a:pPr marL="0" indent="0">
              <a:buNone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211901-6F42-8590-91FB-AC4821F27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68449"/>
              </p:ext>
            </p:extLst>
          </p:nvPr>
        </p:nvGraphicFramePr>
        <p:xfrm>
          <a:off x="1895366" y="4322763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534599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3288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358842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79087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29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1353 (39.89%)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1386 (40.86%)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1396 (41.16%)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511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444 (13.09%)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679 (20.02%)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697 (20.55%)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0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1438 (42.39%)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1727 (50.91%)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1882 (55.48%)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4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2109 (62.17%)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2258 (66.56%)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2350 (69.28%)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00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26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55F6-3D5C-5BCE-EEB1-0EEE55E4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suất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6A14B-BBB8-9680-8081-6521D5207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toán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Xếp nhiều môn thi vào 1 phòng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 sinh viên mỗi phòng không quá công suất học của phòng đó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 xếp hai lớp cùng môn vào một phòng</a:t>
            </a:r>
          </a:p>
          <a:p>
            <a:pPr marL="0" indent="0">
              <a:buNone/>
            </a:pP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 tiêu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Giảm tổng số phòng sử dụng</a:t>
            </a:r>
          </a:p>
        </p:txBody>
      </p:sp>
    </p:spTree>
    <p:extLst>
      <p:ext uri="{BB962C8B-B14F-4D97-AF65-F5344CB8AC3E}">
        <p14:creationId xmlns:p14="http://schemas.microsoft.com/office/powerpoint/2010/main" val="224573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4FD3-5F61-378A-F90A-1C24F4CB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C447-6269-3291-655D-836E65A43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SG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 VÀO: </a:t>
            </a:r>
            <a:r>
              <a:rPr lang="en-SG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phong_thi.csv</a:t>
            </a:r>
            <a:endParaRPr lang="en-SG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KEY_CA: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15/12/2025_07g00_1 (NGÀY_GIỜ_CS)</a:t>
            </a:r>
          </a:p>
          <a:p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NGAYTHI: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(dd/mm/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yyyy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F_TENPHMOI: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tên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SUC_CHUA: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sức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chứa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F_MAMH: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F_SOLUONG: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SG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 RA:</a:t>
            </a:r>
          </a:p>
          <a:p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goi_y_gop_phong.csv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chi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tiết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gộp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tong_hop_tiet_kiem_theo_ca.csv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kê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</a:t>
            </a:r>
          </a:p>
          <a:p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tong_hop_tiet_kiem_theo_ngay.csv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endParaRPr lang="en-S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5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DEE5-B216-4175-7F11-E4EEDA23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B4CF-41A9-0005-FD58-08448241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 tưởng thuật toán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15DF5-8A62-A334-6192-08677FCCC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Chiến lược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Gộp phòng 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 từng ca thi (KEY_CA)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Áp dụng thuật toán Greedy Bin Packing có ràng buộc</a:t>
            </a:r>
          </a:p>
          <a:p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 phòng đích (bin) phải thỏa: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 SV ≤ sức chứa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môn trong phòng khác nhau</a:t>
            </a:r>
          </a:p>
          <a:p>
            <a:pPr marL="0" indent="0">
              <a:buNone/>
            </a:pP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 tiên gộp nhóm đông SV trước để tận dụng sức chứa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1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B2D4-EA1E-130F-5A9B-645FD5D2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12DF-85E3-9C56-26D7-5A622F3E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Chi tiết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E9D9D-D649-DA33-27B8-60B3E821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vi-VN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 mỗi KEY_CA:</a:t>
            </a:r>
            <a:endParaRPr lang="vi-VN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vi-V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Sắp xếp các nhóm thi theo số lượng giảm dần</a:t>
            </a:r>
          </a:p>
          <a:p>
            <a:pPr>
              <a:lnSpc>
                <a:spcPct val="200000"/>
              </a:lnSpc>
            </a:pPr>
            <a:r>
              <a:rPr lang="vi-V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Lần lượt xét từng nhóm:</a:t>
            </a:r>
          </a:p>
          <a:p>
            <a:pPr lvl="1">
              <a:lnSpc>
                <a:spcPct val="20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Thử đưa vào phòng đích hiện có:</a:t>
            </a:r>
          </a:p>
          <a:p>
            <a:pPr lvl="2">
              <a:lnSpc>
                <a:spcPct val="200000"/>
              </a:lnSpc>
            </a:pPr>
            <a:r>
              <a:rPr lang="vi-V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Đủ sức chứa</a:t>
            </a:r>
          </a:p>
          <a:p>
            <a:pPr lvl="2">
              <a:lnSpc>
                <a:spcPct val="200000"/>
              </a:lnSpc>
            </a:pPr>
            <a:r>
              <a:rPr lang="vi-VN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Chưa có môn đó</a:t>
            </a:r>
          </a:p>
          <a:p>
            <a:pPr marL="0" indent="0">
              <a:buNone/>
            </a:pPr>
            <a:endParaRPr lang="vi-VN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01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DFBD-2E94-C4A6-12A0-F8DF9F99C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9D1C-0723-771D-83D0-63FF3E9B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2CEAD-36A9-D7DC-D251-D2AC6F61E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 điểm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Nhanh, dễ triển khai</a:t>
            </a: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Phù hợp dữ liệu lớn (nhiều ca, nhiều phòng)</a:t>
            </a: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 quả dễ giải thích, minh bạch</a:t>
            </a:r>
          </a:p>
          <a:p>
            <a:pPr>
              <a:lnSpc>
                <a:spcPct val="160000"/>
              </a:lnSpc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 hạn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Thuật toán tham lam</a:t>
            </a: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 đảm bảo tối ưu tuyệt đối như mô hình tối ưu toàn cục (Integer Linear Programming)</a:t>
            </a:r>
          </a:p>
          <a:p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Đổi lại: </a:t>
            </a: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 giản – hiệu quả – dễ vận hành thực tế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7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98F0-C751-8F89-6381-EAFA426D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0338-BEAB-07BE-022B-E5D512CD5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05047"/>
            <a:ext cx="10515600" cy="257191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lang="en-US" alt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chế</a:t>
            </a:r>
            <a:endParaRPr lang="en-US" alt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ghép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vd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MT2009) do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SV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đông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nên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đủ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ghép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chung</a:t>
            </a: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D0269-5A5C-4A3A-A610-03DC41ABC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92413"/>
              </p:ext>
            </p:extLst>
          </p:nvPr>
        </p:nvGraphicFramePr>
        <p:xfrm>
          <a:off x="1481959" y="1906187"/>
          <a:ext cx="84152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821">
                  <a:extLst>
                    <a:ext uri="{9D8B030D-6E8A-4147-A177-3AD203B41FA5}">
                      <a16:colId xmlns:a16="http://schemas.microsoft.com/office/drawing/2014/main" val="2447438140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3855528817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2334150638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11580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7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 BAN ĐẦU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2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SAU GỘP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TIẾT KIỆM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1353 (39.89%)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1386 (40.86%)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1396 (41.16%)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27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497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C93D-7993-C759-D3C3-0229CD30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án 2: Gộp phòng theo sức chứa thi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CA3B3-053E-117E-1B8D-37894F30F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 tưởng cốt lõi</a:t>
            </a:r>
          </a:p>
          <a:p>
            <a:pPr marL="0" indent="0">
              <a:buNone/>
            </a:pP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 nguyên cách gộp phòng theo ca thi (KEY_CA)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 sử dụng sức chứa thi cho phép (= 50% công suất phòng)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84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74AA-8A80-3356-5690-C34E17C5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A729-44A2-A665-B4B3-B5FF7BA1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án 2: Kết quả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0D32E3-DF31-605E-ACAE-433D76A2D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18983"/>
              </p:ext>
            </p:extLst>
          </p:nvPr>
        </p:nvGraphicFramePr>
        <p:xfrm>
          <a:off x="1481959" y="1906187"/>
          <a:ext cx="84152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821">
                  <a:extLst>
                    <a:ext uri="{9D8B030D-6E8A-4147-A177-3AD203B41FA5}">
                      <a16:colId xmlns:a16="http://schemas.microsoft.com/office/drawing/2014/main" val="2447438140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3855528817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2334150638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11580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7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 BAN ĐẦU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2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SAU GỘP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TIẾT KIỆM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444 (13.09%)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679 (20.02%)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697 (20.55%)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27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658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3EC-CE45-2154-7EA8-D43B5F0C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án 3: Được chọn phòng thi cho từng môn + công suất thi là cận trên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F710-7138-19D9-A228-61F794E4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Ý tưởng cốt lõi: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Xếp phòng trực tiếp theo từng slot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 tiêu: dùng ít phòng nhất / sử dụng phòng đầy nhất có thể</a:t>
            </a:r>
          </a:p>
          <a:p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26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EF67-C44A-DE0F-5146-AC5D4798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E6E5D-14B8-E8AD-DD90-414FAB45D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1: Nhu cầu sinh viên theo môn &amp; slot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students_by_course_datetime_campus.csv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ID, DATE_ONLY, TIME, CS1, CS2</a:t>
            </a:r>
          </a:p>
          <a:p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2: Danh sách phòng theo cơ sở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rooms_capacity_campus.csv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ROOM ID, EXAM CAPACITY, CAMPUS_NORM (CS1/CS2)</a:t>
            </a:r>
          </a:p>
          <a:p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allocation_plan.csv — kế hoạch phân bổ SV vào phòng (cho phép split)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allocation_room_summary.csv — thống kê sử dụng phòng theo slot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allocation_unassigned.csv — SV không xếp được (thiếu tổng sức chứa)</a:t>
            </a:r>
          </a:p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rooms_used_per_day_summary.csv — tổng số phòng dùng theo ngày (CS1/CS2)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33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4E72-0FFE-D309-0B0C-0B46BE784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8490" cy="1325563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thuật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Greedy “fill rooms”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9834-2CCC-2609-8B7E-1683F5D45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 tưởng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 tiên dùng phòng lớn trước và “nhồi” SV để tận dụng tối đa năng suất phòng</a:t>
            </a:r>
          </a:p>
          <a:p>
            <a:pPr>
              <a:lnSpc>
                <a:spcPct val="160000"/>
              </a:lnSpc>
            </a:pP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Sắp xếp</a:t>
            </a:r>
            <a:endParaRPr lang="vi-V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Phòng: giảm dần theo sức chứa thi (phòng lớn xử lý trước)</a:t>
            </a:r>
          </a:p>
          <a:p>
            <a:pPr>
              <a:lnSpc>
                <a:spcPct val="160000"/>
              </a:lnSpc>
            </a:pP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 học: giảm dần theo số SV cần xếp (môn đông xử lý trước)</a:t>
            </a:r>
          </a:p>
          <a:p>
            <a:pPr algn="ctr"/>
            <a:endParaRPr lang="vi-VN" dirty="0"/>
          </a:p>
          <a:p>
            <a:pPr marL="0" indent="0" algn="ctr">
              <a:buNone/>
            </a:pPr>
            <a:r>
              <a:rPr lang="vi-V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Vừa tăng mức lấp đầy, vừa giảm số phòng mở.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90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8B75-759B-21BA-60CC-7B40CFF2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3DF58-AFE0-B07F-1518-1C927C62F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10515600" cy="34579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: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1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dung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sức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thi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DDEF64-69CA-D916-C465-9CBB1ADCD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441052"/>
              </p:ext>
            </p:extLst>
          </p:nvPr>
        </p:nvGraphicFramePr>
        <p:xfrm>
          <a:off x="1481959" y="2158436"/>
          <a:ext cx="84152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821">
                  <a:extLst>
                    <a:ext uri="{9D8B030D-6E8A-4147-A177-3AD203B41FA5}">
                      <a16:colId xmlns:a16="http://schemas.microsoft.com/office/drawing/2014/main" val="2447438140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3855528817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2334150638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11580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7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 BAN ĐẦU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2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SAU GỘP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TIẾT KIỆM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1438 (42.39%)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1727 (50.91%)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1882 (55.48%)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27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439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277F-D4C1-AE59-DD15-BDC34C14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02B7-0C8A-BB6F-7804-87C9A5AC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án 4: Được chọn phòng thi cho từng môn + công suất học là cận trên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D17D6-39A1-A595-3BEB-A9E33229A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3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(2x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)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88F985-196D-9843-7925-4A8C9D455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03242"/>
              </p:ext>
            </p:extLst>
          </p:nvPr>
        </p:nvGraphicFramePr>
        <p:xfrm>
          <a:off x="1807780" y="3629884"/>
          <a:ext cx="84152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821">
                  <a:extLst>
                    <a:ext uri="{9D8B030D-6E8A-4147-A177-3AD203B41FA5}">
                      <a16:colId xmlns:a16="http://schemas.microsoft.com/office/drawing/2014/main" val="2447438140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3855528817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2334150638"/>
                    </a:ext>
                  </a:extLst>
                </a:gridCol>
                <a:gridCol w="2103821">
                  <a:extLst>
                    <a:ext uri="{9D8B030D-6E8A-4147-A177-3AD203B41FA5}">
                      <a16:colId xmlns:a16="http://schemas.microsoft.com/office/drawing/2014/main" val="11580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7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 BAN ĐẦU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2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SAU GỘP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 TIẾT KIỆM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2109 (62.17%)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2258 (66.56%)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2350 (69.28%)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27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83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0AD4-BD1A-A1B7-AE52-D21829DA3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Nguồn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B1701-5DBD-DA3B-479E-18C190690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[1] Galambos, G., Martello, S., Vigo, D. (2025). An Updated Overview of Bin Packing Approximation Algorithms. In: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Pardalos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P.M., Du, DZ., Thai, M.T. (eds) Handbook of Combinatorial Optimization. Springer, New York, NY. https://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doi.org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/10.1007/978-1-4614-6624-6_35-1</a:t>
            </a:r>
            <a:b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[2] Qu, R., Burke, E. K., McCollum, B., Merlot, L. T. G., &amp; Lee, S. Y. (2009). A survey of search methodologies and automated system development for examination timetabling. Journal of Scheduling, 12(1), 55–89. https://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doi.org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/10.1007/s10951-008-0077-5</a:t>
            </a:r>
            <a:b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[3]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Dammak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A.,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Elloumi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A., &amp; Kamoun, H. (2006). Classroom assignment for exam timetabling. Advances in Engineering Software, 37, 659–666.</a:t>
            </a:r>
            <a:b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[4]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Dell’Amico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M.,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Furini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F., &amp; Iori, M. (2019). A branch-and-price algorithm for the temporal bin packing problem. 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arXiv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preprint arXiv:1902.04925. https://</a:t>
            </a:r>
            <a:r>
              <a:rPr lang="en-S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arxiv.org</a:t>
            </a:r>
            <a:r>
              <a:rPr lang="en-S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/abs/1902.04925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198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1380</Words>
  <Application>Microsoft Macintosh PowerPoint</Application>
  <PresentationFormat>Widescreen</PresentationFormat>
  <Paragraphs>197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Tahoma</vt:lpstr>
      <vt:lpstr>Office Theme</vt:lpstr>
      <vt:lpstr>Đề xuất tối ưu hoá quy trình phân phối phòng cho thi cử tại trường ĐHBK TP.HCM</vt:lpstr>
      <vt:lpstr>Thực trạng hiện tại (HK 251)</vt:lpstr>
      <vt:lpstr>Ý tưởng chính</vt:lpstr>
      <vt:lpstr>Với mỗi phương án</vt:lpstr>
      <vt:lpstr>Phương án 1: Sử dụng công suất phòng</vt:lpstr>
      <vt:lpstr>Phương án 1: Dữ liệu đầu vào / đầu ra</vt:lpstr>
      <vt:lpstr>Phương án 1: Ý tưởng thuật toán</vt:lpstr>
      <vt:lpstr>Phương án 1: Chi tiết</vt:lpstr>
      <vt:lpstr>Phương án 1: Đặc điểm &amp; Giới hạn</vt:lpstr>
      <vt:lpstr>Phương án 1: Kết quả</vt:lpstr>
      <vt:lpstr>Phương án 2: Gộp phòng theo sức chứa thi</vt:lpstr>
      <vt:lpstr>Phương án 2: Kết quả</vt:lpstr>
      <vt:lpstr>Phương án 3: Được chọn phòng thi cho từng môn + công suất thi là cận trên</vt:lpstr>
      <vt:lpstr>Phương án 3: Đầu vào/Đầu ra</vt:lpstr>
      <vt:lpstr>Phương án 3: Giải thuật Greedy “fill rooms”</vt:lpstr>
      <vt:lpstr>Phương án 3: Kết quả</vt:lpstr>
      <vt:lpstr>Phương án 4: Được chọn phòng thi cho từng môn + công suất học là cận trên</vt:lpstr>
      <vt:lpstr>Nguồn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8</cp:revision>
  <dcterms:created xsi:type="dcterms:W3CDTF">2026-01-16T02:07:01Z</dcterms:created>
  <dcterms:modified xsi:type="dcterms:W3CDTF">2026-01-17T10:18:59Z</dcterms:modified>
</cp:coreProperties>
</file>